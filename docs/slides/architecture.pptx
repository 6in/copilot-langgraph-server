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eiryo"/>
              </a:rPr>
              <a:t>Copilot LangGraph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eiryo"/>
              </a:rPr>
              <a:t>GitHub Copilot を LangGraph で束ねる社内向け汎用チャット基盤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アーキテクチャ説明資料  /  2026-04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eiryo"/>
              </a:rPr>
              <a:t>プロジェクト概要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何を作っているか / なぜ Copilot SDK なのか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22B3A"/>
                </a:solidFill>
                <a:latin typeface="Meiryo"/>
              </a:rPr>
              <a:t>• GitHub Copilot の JSON-RPC SDK を LangChain 互換の BaseChatModel としてラップ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B3A"/>
                </a:solidFill>
                <a:latin typeface="Meiryo"/>
              </a:rPr>
              <a:t>• LangGraph で会話グラフ・ReAct ループ・Checkpointer 永続化を実装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B3A"/>
                </a:solidFill>
                <a:latin typeface="Meiryo"/>
              </a:rPr>
              <a:t>• 社内利用 200 名規模を想定したマルチユーザー・マルチアプリ構成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B3A"/>
                </a:solidFill>
                <a:latin typeface="Meiryo"/>
              </a:rPr>
              <a:t>• 5 つのアプリを同居: Chat / SuperChat / Gems / Canvas / DebateChat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22B3A"/>
                </a:solidFill>
                <a:latin typeface="Meiryo"/>
              </a:rPr>
              <a:t>• 認証は GitHub Device Flow のみ。JWT HS256 を httpOnly cookie で管理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eiryo"/>
              </a:rPr>
              <a:t>5 つのアプリケーション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同じバックエンド基盤で切り替え可能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194560" cy="2194560"/>
          </a:xfrm>
          <a:prstGeom prst="roundRect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89120"/>
            <a:ext cx="219456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シンプル ReAct チャット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103120"/>
            <a:ext cx="2194560" cy="219456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SuperChat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4389120"/>
            <a:ext cx="219456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Router → SubAgent の
オーケストレーション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9" y="2103120"/>
            <a:ext cx="2194560" cy="2194560"/>
          </a:xfrm>
          <a:prstGeom prst="roundRect">
            <a:avLst/>
          </a:prstGeom>
          <a:solidFill>
            <a:srgbClr val="4CAF50"/>
          </a:solidFill>
          <a:ln w="1587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Gems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4389120"/>
            <a:ext cx="219456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システムプロンプト駆動の
カスタム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103120"/>
            <a:ext cx="2194560" cy="2194560"/>
          </a:xfrm>
          <a:prstGeom prst="roundRect">
            <a:avLst/>
          </a:prstGeom>
          <a:solidFill>
            <a:srgbClr val="E68A00"/>
          </a:solidFill>
          <a:ln w="15875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389120"/>
            <a:ext cx="219456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iframe RPC でホスト済み
ミニアプリと対話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103120"/>
            <a:ext cx="2194560" cy="2194560"/>
          </a:xfrm>
          <a:prstGeom prst="roundRect">
            <a:avLst/>
          </a:prstGeom>
          <a:solidFill>
            <a:srgbClr val="8E44AD"/>
          </a:solidFill>
          <a:ln w="15875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DebateChat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4389120"/>
            <a:ext cx="219456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複数エージェントの
議論シミュレーション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eiryo"/>
              </a:rPr>
              <a:t>全体アーキテクチャ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docker compose で起動するサービス構成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560320" cy="914400"/>
          </a:xfrm>
          <a:prstGeom prst="roundRect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Frontend
React 19 + Vite (Bun)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828800"/>
            <a:ext cx="2560320" cy="9144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FastAPI
/api +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828800"/>
            <a:ext cx="2560320" cy="9144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arq Worker
LangGraph 実行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828800"/>
            <a:ext cx="1920240" cy="914400"/>
          </a:xfrm>
          <a:prstGeom prst="roundRect">
            <a:avLst/>
          </a:prstGeom>
          <a:solidFill>
            <a:srgbClr val="E68A00"/>
          </a:solidFill>
          <a:ln w="15875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MCP Server
FastMCP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474720"/>
            <a:ext cx="256032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0">
                <a:solidFill>
                  <a:srgbClr val="222B3A"/>
                </a:solidFill>
                <a:latin typeface="Meiryo"/>
              </a:rPr>
              <a:t>Redis  (arq queue / SSE notifier)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474720"/>
            <a:ext cx="256032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0">
                <a:solidFill>
                  <a:srgbClr val="222B3A"/>
                </a:solidFill>
                <a:latin typeface="Meiryo"/>
              </a:rPr>
              <a:t>PostgreSQL  (checkpointer)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4754880"/>
            <a:ext cx="6035040" cy="822960"/>
          </a:xfrm>
          <a:prstGeom prst="roundRect">
            <a:avLst/>
          </a:prstGeom>
          <a:solidFill>
            <a:srgbClr val="4CAF50"/>
          </a:solidFill>
          <a:ln w="1587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github-copilot-sdk  (Device Flow / JSON-RPC)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2286000"/>
            <a:ext cx="91440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2286000"/>
            <a:ext cx="914399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58400" y="2286000"/>
            <a:ext cx="4572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2743200"/>
            <a:ext cx="0" cy="731520"/>
          </a:xfrm>
          <a:prstGeom prst="bentConnector3">
            <a:avLst/>
          </a:prstGeom>
          <a:ln w="25400">
            <a:solidFill>
              <a:srgbClr val="6B73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2743200"/>
            <a:ext cx="0" cy="731520"/>
          </a:xfrm>
          <a:prstGeom prst="bentConnector3">
            <a:avLst/>
          </a:prstGeom>
          <a:ln w="25400">
            <a:solidFill>
              <a:srgbClr val="6B73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303520" y="2743200"/>
            <a:ext cx="3474720" cy="731520"/>
          </a:xfrm>
          <a:prstGeom prst="bentConnector3">
            <a:avLst/>
          </a:prstGeom>
          <a:ln w="25400">
            <a:solidFill>
              <a:srgbClr val="6B73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040880" y="4297680"/>
            <a:ext cx="1737360" cy="457200"/>
          </a:xfrm>
          <a:prstGeom prst="bentConnector3">
            <a:avLst/>
          </a:prstGeom>
          <a:ln w="25400">
            <a:solidFill>
              <a:srgbClr val="6B73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03520" y="2743200"/>
            <a:ext cx="1737360" cy="2011680"/>
          </a:xfrm>
          <a:prstGeom prst="bentConnector3">
            <a:avLst/>
          </a:prstGeom>
          <a:ln w="25400">
            <a:solidFill>
              <a:srgbClr val="6B73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Meiryo"/>
              </a:rPr>
              <a:t>※ nginx で APP_PREFIX (/orochi) を strip して FastAPI に転送。Vite dev server (5173) が /api を API にプロキシ。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eiryo"/>
              </a:rPr>
              <a:t>認証フロー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GitHub Device Flow + JWT (HS256) httpOnly cookie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194560" cy="64008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Step 1 —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21945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POST /api/auth/device/start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3429000"/>
            <a:ext cx="13716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011680"/>
            <a:ext cx="2194560" cy="64008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Step 2 — 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697480"/>
            <a:ext cx="21945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CopilotAuthManager
が device code 発行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74920" y="3429000"/>
            <a:ext cx="137159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12079" y="2011680"/>
            <a:ext cx="2194560" cy="64008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Step 3 —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9" y="2697480"/>
            <a:ext cx="21945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GitHub で
code を承認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0" y="3429000"/>
            <a:ext cx="13716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43800" y="2011680"/>
            <a:ext cx="2194560" cy="64008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Step 4 — FastAPI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697480"/>
            <a:ext cx="21945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poll → access_token
→ 暗号化して保存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38360" y="3429000"/>
            <a:ext cx="13716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75520" y="2011680"/>
            <a:ext cx="2194560" cy="64008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Step 5 — FastAPI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2697480"/>
            <a:ext cx="21945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JWT 発行
→ httpOnly cookie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B3A"/>
                </a:solidFill>
                <a:latin typeface="Meiryo"/>
              </a:rPr>
              <a:t>• Copilot access_token は Fernet で暗号化して DB 永続化（再ログイン不要）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B3A"/>
                </a:solidFill>
                <a:latin typeface="Meiryo"/>
              </a:rPr>
              <a:t>• JWT は HS256、JTI ブロックリストで失効管理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B3A"/>
                </a:solidFill>
                <a:latin typeface="Meiryo"/>
              </a:rPr>
              <a:t>• PAT 方式は対象外 — 非インタラクティブは今後の課題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eiryo"/>
              </a:rPr>
              <a:t>非同期ジョブ処理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POST → job_id → Worker 実行 → SSE 通知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743200" cy="914400"/>
          </a:xfrm>
          <a:prstGeom prst="roundRect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① Client
POST /api/chat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011680"/>
            <a:ext cx="2743200" cy="9144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② FastAPI
arq.enqueue → job_id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27432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0">
                <a:solidFill>
                  <a:srgbClr val="222B3A"/>
                </a:solidFill>
                <a:latin typeface="Meiryo"/>
              </a:rPr>
              <a:t>③ Redis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011680"/>
            <a:ext cx="2377440" cy="9144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④ arq Worker
process_chat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2468880"/>
            <a:ext cx="27432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9360" y="2468880"/>
            <a:ext cx="27432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0" y="2468880"/>
            <a:ext cx="27432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0" y="3291840"/>
            <a:ext cx="2377440" cy="822960"/>
          </a:xfrm>
          <a:prstGeom prst="roundRect">
            <a:avLst/>
          </a:prstGeom>
          <a:solidFill>
            <a:srgbClr val="4CAF50"/>
          </a:solidFill>
          <a:ln w="1587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⑤ JobStore に
結果を格納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89920" y="2926080"/>
            <a:ext cx="0" cy="36576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4389120"/>
            <a:ext cx="576072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0">
                <a:solidFill>
                  <a:srgbClr val="222B3A"/>
                </a:solidFill>
                <a:latin typeface="Meiryo"/>
              </a:rPr>
              <a:t>⑥ Client: GET /api/job/{id}/stream (SSE)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389120"/>
            <a:ext cx="5394960" cy="914400"/>
          </a:xfrm>
          <a:prstGeom prst="roundRect">
            <a:avLst/>
          </a:prstGeom>
          <a:solidFill>
            <a:srgbClr val="E68A00"/>
          </a:solidFill>
          <a:ln w="15875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⑦ Notifier が完了イベント push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0" y="4846320"/>
            <a:ext cx="27432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22B3A"/>
                </a:solidFill>
                <a:latin typeface="Meiryo"/>
              </a:rPr>
              <a:t>• WebSocket は使わず SSE のみ — 社内 nginx との相性と実装単純化を優先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B3A"/>
                </a:solidFill>
                <a:latin typeface="Meiryo"/>
              </a:rPr>
              <a:t>• JobStore は In-memory + asyncio.Queue — 200 名規模では十分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eiryo"/>
              </a:rPr>
              <a:t>LangGraph + ChatCopilot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ChatCopilot を BaseChatModel として差し込む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2377440" cy="1005840"/>
          </a:xfrm>
          <a:prstGeom prst="ellipse">
            <a:avLst/>
          </a:prstGeom>
          <a:solidFill>
            <a:srgbClr val="6B7380"/>
          </a:solidFill>
          <a:ln w="15875">
            <a:solidFill>
              <a:srgbClr val="6B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011680"/>
            <a:ext cx="2377440" cy="100584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agent
(ChatCopilot)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011680"/>
            <a:ext cx="2377440" cy="1005840"/>
          </a:xfrm>
          <a:prstGeom prst="roundRect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ToolNode
(LangChain tools)</a:t>
            </a:r>
          </a:p>
        </p:txBody>
      </p:sp>
      <p:sp>
        <p:nvSpPr>
          <p:cNvPr id="9" name="Oval 8"/>
          <p:cNvSpPr/>
          <p:nvPr/>
        </p:nvSpPr>
        <p:spPr>
          <a:xfrm>
            <a:off x="9966960" y="2011680"/>
            <a:ext cx="2011680" cy="1005840"/>
          </a:xfrm>
          <a:prstGeom prst="ellipse">
            <a:avLst/>
          </a:prstGeom>
          <a:solidFill>
            <a:srgbClr val="6B7380"/>
          </a:solidFill>
          <a:ln w="15875">
            <a:solidFill>
              <a:srgbClr val="6B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2514600"/>
            <a:ext cx="64008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9360" y="2514600"/>
            <a:ext cx="64008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0" y="2514600"/>
            <a:ext cx="64008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120640" y="3017520"/>
            <a:ext cx="3017520" cy="0"/>
          </a:xfrm>
          <a:prstGeom prst="bentConnector3">
            <a:avLst/>
          </a:prstGeom>
          <a:ln w="25400">
            <a:solidFill>
              <a:srgbClr val="6B73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Meiryo"/>
              </a:rPr>
              <a:t>tool_calls 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B3A"/>
                </a:solidFill>
                <a:latin typeface="Meiryo"/>
              </a:rPr>
              <a:t>• ChatCopilot: Copilot JSON-RPC を BaseChatModel にラップ (providers/copilot.py)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B3A"/>
                </a:solidFill>
                <a:latin typeface="Meiryo"/>
              </a:rPr>
              <a:t>• BoundChatCopilot: bind_tools() でツールスキーマを system prompt に注入 → JSON 応答を AIMessage(tool_calls=[...]) に変換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B3A"/>
                </a:solidFill>
                <a:latin typeface="Meiryo"/>
              </a:rPr>
              <a:t>• Checkpointer: PostgreSQL AsyncConnectionPool でスレッド永続化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B3A"/>
                </a:solidFill>
                <a:latin typeface="Meiryo"/>
              </a:rPr>
              <a:t>• グラフは lifespan でコンパイル、ライフサイクルは caller が管理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eiryo"/>
              </a:rPr>
              <a:t>SubAgent と MCP 統合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AGENT.md から動的にエージェント生成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100584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SubAgentRegistry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380"/>
                </a:solidFill>
                <a:latin typeface="Meiryo"/>
              </a:rPr>
              <a:t>agents/*/AGENT.md を自動ロード → tools: flag + mcp_tools で ToolEnabledSubAgent を生成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3657600" cy="1645920"/>
          </a:xfrm>
          <a:prstGeom prst="roundRect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Router
(SuperChat)
↓ 宛先決定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657600"/>
            <a:ext cx="3657600" cy="164592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SubAgent
(ReAct mini graph)
agent → ToolNode →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3657600"/>
            <a:ext cx="3383280" cy="1645920"/>
          </a:xfrm>
          <a:prstGeom prst="roundRect">
            <a:avLst/>
          </a:prstGeom>
          <a:solidFill>
            <a:srgbClr val="E68A00"/>
          </a:solidFill>
          <a:ln w="15875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MCP Singleton
(worker.startup)
MultiServerMCPClient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4480560"/>
            <a:ext cx="36576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4480560"/>
            <a:ext cx="365760" cy="0"/>
          </a:xfrm>
          <a:prstGeom prst="bentConnector3">
            <a:avLst/>
          </a:prstGeom>
          <a:ln w="2540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5577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22B3A"/>
                </a:solidFill>
                <a:latin typeface="Meiryo"/>
              </a:rPr>
              <a:t>• langchain-mcp-adapters で MCP tools → LangChain BaseTool に変換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B3A"/>
                </a:solidFill>
                <a:latin typeface="Meiryo"/>
              </a:rPr>
              <a:t>• MCP 接続失敗時は ctx['mcp_tools']=[] で DEGRADED 継続 — 起動を止めない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eiryo"/>
              </a:rPr>
              <a:t>永続化レイヤー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状態はどこに置かれているか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493776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LangGraph Checkpointer (threads)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20440"/>
            <a:ext cx="493776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ユーザー / アプリ / Gem メタデータ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57600"/>
            <a:ext cx="493776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JWT JTI blocklist / 暗号化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486400" cy="2286000"/>
          </a:xfrm>
          <a:prstGeom prst="roundRect">
            <a:avLst/>
          </a:prstGeom>
          <a:solidFill>
            <a:srgbClr val="2E86AB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Redis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926080"/>
            <a:ext cx="493776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arq ジョブキュー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520440"/>
            <a:ext cx="493776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>
                <a:solidFill>
                  <a:srgbClr val="222B3A"/>
                </a:solidFill>
                <a:latin typeface="Meiryo"/>
              </a:rPr>
              <a:t>SSE 通知用 asyncio.Queue ブリッジ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22B3A"/>
                </a:solidFill>
                <a:latin typeface="Meiryo"/>
              </a:rPr>
              <a:t>• Checkpointer は AsyncConnectionPool で共有 — lifespan で初期化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B3A"/>
                </a:solidFill>
                <a:latin typeface="Meiryo"/>
              </a:rPr>
              <a:t>• config/db_pools.yaml で接続プールをチューニング (Phase 23)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B3A"/>
                </a:solidFill>
                <a:latin typeface="Meiryo"/>
              </a:rPr>
              <a:t>• shared volume claude-code-outputs で worker / mcp-server 間の大容量出力を受け渡し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Meiryo"/>
              </a:rPr>
              <a:t>今後の拡張ポイント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ロードマップ上の主なテーマ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222B3A"/>
                </a:solidFill>
                <a:latin typeface="Meiryo"/>
              </a:rPr>
              <a:t>• data-ai-role 属性の導入 — AI エージェントが操作しやすい画面構成 (Phase 候補)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B3A"/>
                </a:solidFill>
                <a:latin typeface="Meiryo"/>
              </a:rPr>
              <a:t>• Gem データの Redis キャッシュ (OrchestratorHandler)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B3A"/>
                </a:solidFill>
                <a:latin typeface="Meiryo"/>
              </a:rPr>
              <a:t>• Slack Bot 連携 — 非インタラクティブ環境向けのエントリポイント追加検討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B3A"/>
                </a:solidFill>
                <a:latin typeface="Meiryo"/>
              </a:rPr>
              <a:t>• Canvas: iframe RPC のモデル指定拡張と多段 AI 呼び出し</a:t>
            </a:r>
          </a:p>
          <a:p>
            <a:pPr algn="l">
              <a:spcAft>
                <a:spcPts val="600"/>
              </a:spcAft>
            </a:pPr>
            <a:r>
              <a:rPr sz="1700">
                <a:solidFill>
                  <a:srgbClr val="222B3A"/>
                </a:solidFill>
                <a:latin typeface="Meiryo"/>
              </a:rPr>
              <a:t>• 監査ログ強化 — 200 名規模の利用履歴を追跡可能に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eiryo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380"/>
                </a:solidFill>
                <a:latin typeface="Meiryo"/>
              </a:rPr>
              <a:t>Source: docs/slides/generate_architecture.py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